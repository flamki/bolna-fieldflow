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32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3229"/>
          </a:solidFill>
          <a:ln w="12700">
            <a:solidFill>
              <a:srgbClr val="2032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85216" y="47548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FF4EA"/>
                </a:solidFill>
              </a:rPr>
              <a:t>FieldFlow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30352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Voice Triage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85216" y="23317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CFE3D8"/>
                </a:solidFill>
              </a:rPr>
              <a:t>AI voice-assisted enterprise service qualification using Bolna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498080" y="914400"/>
            <a:ext cx="3383280" cy="3383280"/>
          </a:xfrm>
          <a:prstGeom prst="arc">
            <a:avLst/>
          </a:prstGeom>
          <a:noFill/>
          <a:ln w="38100">
            <a:solidFill>
              <a:srgbClr val="DFF4EA">
                <a:alpha val="6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5216" y="580644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User -&gt; Web app -&gt; Bolna agent -&gt; Backend -&gt; Work order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326880" y="579729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FF4EA"/>
                </a:solidFill>
              </a:rPr>
              <a:t>Full Stack Assignment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4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enterprise problem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1115568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229"/>
                </a:solidFill>
              </a:rPr>
              <a:t>Incomplete service requests create slow dispatch, SLA risk, and wrong technician assignment.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66928" y="22128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5F4C"/>
                </a:solidFill>
              </a:rPr>
              <a:t>45 min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66928" y="2834640"/>
            <a:ext cx="2560320" cy="0"/>
          </a:xfrm>
          <a:prstGeom prst="line">
            <a:avLst/>
          </a:prstGeom>
          <a:noFill/>
          <a:ln w="15240">
            <a:solidFill>
              <a:srgbClr val="DDE5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303580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8756C"/>
                </a:solidFill>
              </a:rPr>
              <a:t>manual qualification baseline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270248" y="22128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5F4C"/>
                </a:solidFill>
              </a:rPr>
              <a:t>3 handoffs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270248" y="2834640"/>
            <a:ext cx="2560320" cy="0"/>
          </a:xfrm>
          <a:prstGeom prst="line">
            <a:avLst/>
          </a:prstGeom>
          <a:noFill/>
          <a:ln w="15240">
            <a:solidFill>
              <a:srgbClr val="DDE5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70248" y="303580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8756C"/>
                </a:solidFill>
              </a:rPr>
              <a:t>dispatcher, customer, technician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973568" y="22128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793E"/>
                </a:solidFill>
              </a:rPr>
              <a:t>High risk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973568" y="2834640"/>
            <a:ext cx="2560320" cy="0"/>
          </a:xfrm>
          <a:prstGeom prst="line">
            <a:avLst/>
          </a:prstGeom>
          <a:noFill/>
          <a:ln w="15240">
            <a:solidFill>
              <a:srgbClr val="DDE5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73568" y="303580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8756C"/>
                </a:solidFill>
              </a:rPr>
              <a:t>missing parts or wrong skill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8368" y="4325112"/>
            <a:ext cx="73152" cy="73152"/>
          </a:xfrm>
          <a:prstGeom prst="ellipse">
            <a:avLst/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2519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Customers report symptoms without operational context.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" y="4782312"/>
            <a:ext cx="73152" cy="73152"/>
          </a:xfrm>
          <a:prstGeom prst="ellipse">
            <a:avLst/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70916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Dispatchers repeat calls before a work order can be trusted.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239512"/>
            <a:ext cx="73152" cy="73152"/>
          </a:xfrm>
          <a:prstGeom prst="ellipse">
            <a:avLst/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516636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Operations managers lack a quick signal for SLA breach risk.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" y="64465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875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FieldFlow Voice Triage | Bolna FSE Assignment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201400" y="63642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4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FieldFlow workflow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107899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68756C"/>
                </a:solidFill>
              </a:rPr>
              <a:t>A dispatcher creates a case, Bolna collects missing details by voice, and backend logic turns the call into a technician-ready work order.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40080" y="2423160"/>
            <a:ext cx="196596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2532888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05F4C"/>
                </a:solidFill>
              </a:rPr>
              <a:t>01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68096" y="2734056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41D"/>
                </a:solidFill>
              </a:rPr>
              <a:t>Intake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68096" y="3026664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8756C"/>
                </a:solidFill>
              </a:rPr>
              <a:t>Raw service request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429000" y="2423160"/>
            <a:ext cx="196596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57016" y="2532888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05F4C"/>
                </a:solidFill>
              </a:rPr>
              <a:t>02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3557016" y="2734056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41D"/>
                </a:solidFill>
              </a:rPr>
              <a:t>Call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57016" y="3026664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8756C"/>
                </a:solidFill>
              </a:rPr>
              <a:t>Bolna voice triage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217920" y="2423160"/>
            <a:ext cx="196596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45936" y="2532888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05F4C"/>
                </a:solidFill>
              </a:rPr>
              <a:t>03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6345936" y="2734056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41D"/>
                </a:solidFill>
              </a:rPr>
              <a:t>Webhook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45936" y="3026664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8756C"/>
                </a:solidFill>
              </a:rPr>
              <a:t>Transcript + extraction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9006840" y="2423160"/>
            <a:ext cx="1965960" cy="987552"/>
          </a:xfrm>
          <a:prstGeom prst="roundRect">
            <a:avLst>
              <a:gd name="adj" fmla="val 7407"/>
            </a:avLst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34856" y="2532888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04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9134856" y="2734056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Output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34856" y="3026664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DDEDE6"/>
                </a:solidFill>
              </a:rPr>
              <a:t>Priority, SLA, skill, parts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670048" y="2724912"/>
            <a:ext cx="320040" cy="329184"/>
          </a:xfrm>
          <a:prstGeom prst="chevron">
            <a:avLst/>
          </a:prstGeom>
          <a:solidFill>
            <a:srgbClr val="F6C85F"/>
          </a:solidFill>
          <a:ln w="12700">
            <a:solidFill>
              <a:srgbClr val="F6C85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724912"/>
            <a:ext cx="320040" cy="329184"/>
          </a:xfrm>
          <a:prstGeom prst="chevron">
            <a:avLst/>
          </a:prstGeom>
          <a:solidFill>
            <a:srgbClr val="F6C85F"/>
          </a:solidFill>
          <a:ln w="12700">
            <a:solidFill>
              <a:srgbClr val="F6C85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47888" y="2724912"/>
            <a:ext cx="320040" cy="329184"/>
          </a:xfrm>
          <a:prstGeom prst="chevron">
            <a:avLst/>
          </a:prstGeom>
          <a:solidFill>
            <a:srgbClr val="F6C85F"/>
          </a:solidFill>
          <a:ln w="12700">
            <a:solidFill>
              <a:srgbClr val="F6C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65960" y="4709160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05F4C"/>
                </a:solidFill>
              </a:rPr>
              <a:t>Outcome: qualified work order in under 10 minutes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502920" y="64465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875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FieldFlow Voice Triage | Bolna FSE Assignment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201400" y="63642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4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Bolna agent design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1280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b="1" dirty="0">
                <a:solidFill>
                  <a:srgbClr val="6875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DYNAMIC CONTEXT</a:t>
            </a:r>
            <a:endParaRPr lang="en-US" sz="740" dirty="0"/>
          </a:p>
        </p:txBody>
      </p:sp>
      <p:sp>
        <p:nvSpPr>
          <p:cNvPr id="4" name="Shape 2"/>
          <p:cNvSpPr/>
          <p:nvPr/>
        </p:nvSpPr>
        <p:spPr>
          <a:xfrm>
            <a:off x="658368" y="1764792"/>
            <a:ext cx="73152" cy="73152"/>
          </a:xfrm>
          <a:prstGeom prst="ellipse">
            <a:avLst/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case_id, customer_name, contact_name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58368" y="2221992"/>
            <a:ext cx="73152" cy="73152"/>
          </a:xfrm>
          <a:prstGeom prst="ellipse">
            <a:avLst/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488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asset_type, issue, address, preferred_window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58368" y="305409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b="1" dirty="0">
                <a:solidFill>
                  <a:srgbClr val="6875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CONVERSATION GOALS</a:t>
            </a:r>
            <a:endParaRPr lang="en-US" sz="740" dirty="0"/>
          </a:p>
        </p:txBody>
      </p:sp>
      <p:sp>
        <p:nvSpPr>
          <p:cNvPr id="9" name="Shape 7"/>
          <p:cNvSpPr/>
          <p:nvPr/>
        </p:nvSpPr>
        <p:spPr>
          <a:xfrm>
            <a:off x="658368" y="3529584"/>
            <a:ext cx="73152" cy="73152"/>
          </a:xfrm>
          <a:prstGeom prst="ellipse">
            <a:avLst/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45643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issue, start time, full outage vs degraded state.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986784"/>
            <a:ext cx="73152" cy="73152"/>
          </a:xfrm>
          <a:prstGeom prst="ellipse">
            <a:avLst/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913632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Capture business impact, site access, availability, safety risk.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766560" y="1280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b="1" dirty="0">
                <a:solidFill>
                  <a:srgbClr val="6875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STRUCTURED EXTRACTION</a:t>
            </a:r>
            <a:endParaRPr lang="en-US" sz="740" dirty="0"/>
          </a:p>
        </p:txBody>
      </p:sp>
      <p:sp>
        <p:nvSpPr>
          <p:cNvPr id="14" name="Shape 12"/>
          <p:cNvSpPr/>
          <p:nvPr/>
        </p:nvSpPr>
        <p:spPr>
          <a:xfrm>
            <a:off x="6766560" y="1700784"/>
            <a:ext cx="1828800" cy="320040"/>
          </a:xfrm>
          <a:prstGeom prst="roundRect">
            <a:avLst>
              <a:gd name="adj" fmla="val 22857"/>
            </a:avLst>
          </a:prstGeom>
          <a:solidFill>
            <a:srgbClr val="DFF4EA"/>
          </a:solidFill>
          <a:ln w="12700">
            <a:solidFill>
              <a:srgbClr val="DFF4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76288" y="1783080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issue_summary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869680" y="1700784"/>
            <a:ext cx="1828800" cy="320040"/>
          </a:xfrm>
          <a:prstGeom prst="roundRect">
            <a:avLst>
              <a:gd name="adj" fmla="val 22857"/>
            </a:avLst>
          </a:prstGeom>
          <a:solidFill>
            <a:srgbClr val="DFF4EA"/>
          </a:solidFill>
          <a:ln w="12700">
            <a:solidFill>
              <a:srgbClr val="DFF4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79408" y="1783080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766560" y="2377440"/>
            <a:ext cx="1828800" cy="320040"/>
          </a:xfrm>
          <a:prstGeom prst="roundRect">
            <a:avLst>
              <a:gd name="adj" fmla="val 22857"/>
            </a:avLst>
          </a:prstGeom>
          <a:solidFill>
            <a:srgbClr val="DFF4EA"/>
          </a:solidFill>
          <a:ln w="12700">
            <a:solidFill>
              <a:srgbClr val="DFF4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76288" y="2459736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urgency_reason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69680" y="2377440"/>
            <a:ext cx="1828800" cy="320040"/>
          </a:xfrm>
          <a:prstGeom prst="roundRect">
            <a:avLst>
              <a:gd name="adj" fmla="val 22857"/>
            </a:avLst>
          </a:prstGeom>
          <a:solidFill>
            <a:srgbClr val="DFF4EA"/>
          </a:solidFill>
          <a:ln w="12700">
            <a:solidFill>
              <a:srgbClr val="DFF4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79408" y="2459736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customer_availability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766560" y="3054096"/>
            <a:ext cx="1828800" cy="320040"/>
          </a:xfrm>
          <a:prstGeom prst="roundRect">
            <a:avLst>
              <a:gd name="adj" fmla="val 22857"/>
            </a:avLst>
          </a:prstGeom>
          <a:solidFill>
            <a:srgbClr val="DFF4EA"/>
          </a:solidFill>
          <a:ln w="12700">
            <a:solidFill>
              <a:srgbClr val="DFF4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76288" y="3136392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site_access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869680" y="3054096"/>
            <a:ext cx="1828800" cy="320040"/>
          </a:xfrm>
          <a:prstGeom prst="roundRect">
            <a:avLst>
              <a:gd name="adj" fmla="val 22857"/>
            </a:avLst>
          </a:prstGeom>
          <a:solidFill>
            <a:srgbClr val="FFF0C2"/>
          </a:solidFill>
          <a:ln w="12700">
            <a:solidFill>
              <a:srgbClr val="FFF0C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79408" y="3136392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D56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technician_skill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766560" y="3730752"/>
            <a:ext cx="1828800" cy="320040"/>
          </a:xfrm>
          <a:prstGeom prst="roundRect">
            <a:avLst>
              <a:gd name="adj" fmla="val 22857"/>
            </a:avLst>
          </a:prstGeom>
          <a:solidFill>
            <a:srgbClr val="FFF0C2"/>
          </a:solidFill>
          <a:ln w="12700">
            <a:solidFill>
              <a:srgbClr val="FFF0C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76288" y="3813048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D56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parts_likely_needed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869680" y="3730752"/>
            <a:ext cx="1828800" cy="320040"/>
          </a:xfrm>
          <a:prstGeom prst="roundRect">
            <a:avLst>
              <a:gd name="adj" fmla="val 22857"/>
            </a:avLst>
          </a:prstGeom>
          <a:solidFill>
            <a:srgbClr val="FFF0C2"/>
          </a:solidFill>
          <a:ln w="12700">
            <a:solidFill>
              <a:srgbClr val="FFF0C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79408" y="3813048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D56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next_action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766560" y="502920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03229"/>
                </a:solidFill>
              </a:rPr>
              <a:t>Prompt principle: collect operational truth, avoid diagnosis, and escalate safety risk.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2920" y="64465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875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FieldFlow Voice Triage | Bolna FSE Assignment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11201400" y="63642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4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Web app experience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107899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68756C"/>
                </a:solidFill>
              </a:rPr>
              <a:t>The first screen is the operator workspace: intake, queue, case detail, call launch, webhook status, and work order output.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21792" y="20116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5F4C"/>
                </a:solidFill>
              </a:rPr>
              <a:t>1. New request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21792" y="240487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03229"/>
                </a:solidFill>
              </a:rPr>
              <a:t>Capture enterprise, contact, phone, asset, issue, and preferred window.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153912" y="20116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5F4C"/>
                </a:solidFill>
              </a:rPr>
              <a:t>2. Triage queue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153912" y="240487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03229"/>
                </a:solidFill>
              </a:rPr>
              <a:t>Track new, calling, and work-order-ready states.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21792" y="36118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5F4C"/>
                </a:solidFill>
              </a:rPr>
              <a:t>3. Call evidence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21792" y="400507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03229"/>
                </a:solidFill>
              </a:rPr>
              <a:t>Show transcript, extracted impact, site access, and webhook status.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153912" y="36118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5F4C"/>
                </a:solidFill>
              </a:rPr>
              <a:t>4. Output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153912" y="400507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03229"/>
                </a:solidFill>
              </a:rPr>
              <a:t>Show priority, SLA, technician routing, likely parts, decision, and timeline.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5486400"/>
            <a:ext cx="1325880" cy="320040"/>
          </a:xfrm>
          <a:prstGeom prst="roundRect">
            <a:avLst>
              <a:gd name="adj" fmla="val 22857"/>
            </a:avLst>
          </a:prstGeom>
          <a:solidFill>
            <a:srgbClr val="DFF4EA"/>
          </a:solidFill>
          <a:ln w="12700">
            <a:solidFill>
              <a:srgbClr val="DFF4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5568696"/>
            <a:ext cx="11064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+ Vite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148840" y="5486400"/>
            <a:ext cx="1508760" cy="320040"/>
          </a:xfrm>
          <a:prstGeom prst="roundRect">
            <a:avLst>
              <a:gd name="adj" fmla="val 22857"/>
            </a:avLst>
          </a:prstGeom>
          <a:solidFill>
            <a:srgbClr val="DFF4EA"/>
          </a:solidFill>
          <a:ln w="12700">
            <a:solidFill>
              <a:srgbClr val="DFF4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58568" y="5568696"/>
            <a:ext cx="12893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Node + Express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822192" y="5486400"/>
            <a:ext cx="1600200" cy="320040"/>
          </a:xfrm>
          <a:prstGeom prst="roundRect">
            <a:avLst>
              <a:gd name="adj" fmla="val 22857"/>
            </a:avLst>
          </a:prstGeom>
          <a:solidFill>
            <a:srgbClr val="DFF4EA"/>
          </a:solidFill>
          <a:ln w="12700">
            <a:solidFill>
              <a:srgbClr val="DFF4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31920" y="5568696"/>
            <a:ext cx="13807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Bolna /call API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577840" y="5486400"/>
            <a:ext cx="1691640" cy="320040"/>
          </a:xfrm>
          <a:prstGeom prst="roundRect">
            <a:avLst>
              <a:gd name="adj" fmla="val 22857"/>
            </a:avLst>
          </a:prstGeom>
          <a:solidFill>
            <a:srgbClr val="DFF4EA"/>
          </a:solidFill>
          <a:ln w="12700">
            <a:solidFill>
              <a:srgbClr val="DFF4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87568" y="5568696"/>
            <a:ext cx="14721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Webhook backend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02920" y="64465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875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FieldFlow Voice Triage | Bolna FSE Assignment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201400" y="63642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4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Backend logic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107899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8756C"/>
                </a:solidFill>
              </a:rPr>
              <a:t>The webhook turns call execution data into a prioritized work order.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13232" y="182880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5F4C"/>
                </a:solidFill>
              </a:rPr>
              <a:t>POST /api/cases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794760" y="18288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3241D"/>
                </a:solidFill>
              </a:rPr>
              <a:t>Create service case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13232" y="248716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5F4C"/>
                </a:solidFill>
              </a:rPr>
              <a:t>POST /api/cases/:id/call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794760" y="24871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3241D"/>
                </a:solidFill>
              </a:rPr>
              <a:t>Start Bolna call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13232" y="314553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5F4C"/>
                </a:solidFill>
              </a:rPr>
              <a:t>POST /api/bolna/webhook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794760" y="31455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3241D"/>
                </a:solidFill>
              </a:rPr>
              <a:t>Process execution data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8039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5F4C"/>
                </a:solidFill>
              </a:rPr>
              <a:t>POST /api/demo/webhook/:id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794760" y="38039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3241D"/>
                </a:solidFill>
              </a:rPr>
              <a:t>Demo fallback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995160" y="1645920"/>
            <a:ext cx="0" cy="3200400"/>
          </a:xfrm>
          <a:prstGeom prst="line">
            <a:avLst/>
          </a:prstGeom>
          <a:noFill/>
          <a:ln w="15240">
            <a:solidFill>
              <a:srgbClr val="DDE5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60920" y="175564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b="1" dirty="0">
                <a:solidFill>
                  <a:srgbClr val="6875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SCORING INPUTS</a:t>
            </a:r>
            <a:endParaRPr lang="en-US" sz="740" dirty="0"/>
          </a:p>
        </p:txBody>
      </p:sp>
      <p:sp>
        <p:nvSpPr>
          <p:cNvPr id="14" name="Shape 12"/>
          <p:cNvSpPr/>
          <p:nvPr/>
        </p:nvSpPr>
        <p:spPr>
          <a:xfrm>
            <a:off x="7360920" y="2148840"/>
            <a:ext cx="1389888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70648" y="2231136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 text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9025128" y="2148840"/>
            <a:ext cx="1389888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34856" y="2231136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transcript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360920" y="2715768"/>
            <a:ext cx="1389888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70648" y="2798064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extracted impact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9025128" y="2715768"/>
            <a:ext cx="1389888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4856" y="2798064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preferred window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360920" y="3282696"/>
            <a:ext cx="1389888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70648" y="3364992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asset type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9025128" y="3282696"/>
            <a:ext cx="1389888" cy="320040"/>
          </a:xfrm>
          <a:prstGeom prst="roundRect">
            <a:avLst>
              <a:gd name="adj" fmla="val 22857"/>
            </a:avLst>
          </a:prstGeom>
          <a:solidFill>
            <a:srgbClr val="FFE7DC"/>
          </a:solidFill>
          <a:ln w="12700">
            <a:solidFill>
              <a:srgbClr val="FFE7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34856" y="3364992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63B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safety signals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360920" y="470916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03229"/>
                </a:solidFill>
              </a:rPr>
              <a:t>Output: P1 / P2 / P3, SLA, technician skill, likely parts, next backend action.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" y="64465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875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FieldFlow Voice Triage | Bolna FSE Assignment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201400" y="63642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4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Outcome metric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106984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8756C"/>
                </a:solidFill>
              </a:rPr>
              <a:t>Primary metric: time from raw service request to qualified work order.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22402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793E"/>
                </a:solidFill>
              </a:rPr>
              <a:t>45 min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28346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8756C"/>
                </a:solidFill>
              </a:rPr>
              <a:t>manual baseline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2432304"/>
            <a:ext cx="594360" cy="502920"/>
          </a:xfrm>
          <a:prstGeom prst="chevron">
            <a:avLst/>
          </a:prstGeom>
          <a:solidFill>
            <a:srgbClr val="F6C85F"/>
          </a:solidFill>
          <a:ln w="12700">
            <a:solidFill>
              <a:srgbClr val="F6C8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06440" y="22402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5F4C"/>
                </a:solidFill>
              </a:rPr>
              <a:t>&lt; 10 min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806440" y="283464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8756C"/>
                </a:solidFill>
              </a:rPr>
              <a:t>target with FieldFlow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" y="42519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3229"/>
                </a:solidFill>
              </a:rPr>
              <a:t>Expected business lift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" y="4791456"/>
            <a:ext cx="73152" cy="73152"/>
          </a:xfrm>
          <a:prstGeom prst="ellipse">
            <a:avLst/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7183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dispatch and better SLA protection.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5212080"/>
            <a:ext cx="73152" cy="73152"/>
          </a:xfrm>
          <a:prstGeom prst="ellipse">
            <a:avLst/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513892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complete triage data attached to each ticket.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26480" y="4791456"/>
            <a:ext cx="73152" cy="73152"/>
          </a:xfrm>
          <a:prstGeom prst="ellipse">
            <a:avLst/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91072" y="47183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3241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 first-time-right technician assignment.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2920" y="64465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875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FieldFlow Voice Triage | Bolna FSE Assignment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1201400" y="63642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4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Standout SaaS layer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1078992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68756C"/>
                </a:solidFill>
              </a:rPr>
              <a:t>The assignment flow is packaged as an enterprise operations console, not a one-off call demo.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9385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5F4C"/>
                </a:solidFill>
              </a:rPr>
              <a:t>Operations brief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232257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203229"/>
                </a:solidFill>
              </a:rPr>
              <a:t>Queue health, urgency average, completion rate, and live webhook state.</a:t>
            </a:r>
            <a:endParaRPr lang="en-US" sz="1230" dirty="0"/>
          </a:p>
        </p:txBody>
      </p:sp>
      <p:sp>
        <p:nvSpPr>
          <p:cNvPr id="6" name="Text 4"/>
          <p:cNvSpPr/>
          <p:nvPr/>
        </p:nvSpPr>
        <p:spPr>
          <a:xfrm>
            <a:off x="6190488" y="19385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5F4C"/>
                </a:solidFill>
              </a:rPr>
              <a:t>Call intelligence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190488" y="232257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203229"/>
                </a:solidFill>
              </a:rPr>
              <a:t>Transcript plus extracted impact, urgency reason, access, availability, and parts signal.</a:t>
            </a:r>
            <a:endParaRPr lang="en-US" sz="1230" dirty="0"/>
          </a:p>
        </p:txBody>
      </p:sp>
      <p:sp>
        <p:nvSpPr>
          <p:cNvPr id="8" name="Text 6"/>
          <p:cNvSpPr/>
          <p:nvPr/>
        </p:nvSpPr>
        <p:spPr>
          <a:xfrm>
            <a:off x="658368" y="335584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5F4C"/>
                </a:solidFill>
              </a:rPr>
              <a:t>Routing guidance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73989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203229"/>
                </a:solidFill>
              </a:rPr>
              <a:t>Technician skill, SLA, assignment rule, and backend next action.</a:t>
            </a:r>
            <a:endParaRPr lang="en-US" sz="1230" dirty="0"/>
          </a:p>
        </p:txBody>
      </p:sp>
      <p:sp>
        <p:nvSpPr>
          <p:cNvPr id="10" name="Text 8"/>
          <p:cNvSpPr/>
          <p:nvPr/>
        </p:nvSpPr>
        <p:spPr>
          <a:xfrm>
            <a:off x="6190488" y="335584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5F4C"/>
                </a:solidFill>
              </a:rPr>
              <a:t>Audit trail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190488" y="373989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203229"/>
                </a:solidFill>
              </a:rPr>
              <a:t>Timestamped request, call, webhook, and work-order events.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658368" y="5349240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03229"/>
                </a:solidFill>
              </a:rPr>
              <a:t>This keeps scope tight while showing product, frontend, backend, and AI workflow judgment.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64465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875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FieldFlow Voice Triage | Bolna FSE Assignment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201400" y="63642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3891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3241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 flow and links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58368" y="1691640"/>
            <a:ext cx="196596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86384" y="1801368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05F4C"/>
                </a:solidFill>
              </a:rPr>
              <a:t>01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86384" y="2002536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41D"/>
                </a:solidFill>
              </a:rPr>
              <a:t>Create case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86384" y="2295144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8756C"/>
                </a:solidFill>
              </a:rPr>
              <a:t>Dispatcher enters request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447288" y="1691640"/>
            <a:ext cx="196596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75304" y="1801368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05F4C"/>
                </a:solidFill>
              </a:rPr>
              <a:t>02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575304" y="2002536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41D"/>
                </a:solidFill>
              </a:rPr>
              <a:t>Start call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75304" y="2295144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8756C"/>
                </a:solidFill>
              </a:rPr>
              <a:t>Bolna receives context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691640"/>
            <a:ext cx="196596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801368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05F4C"/>
                </a:solidFill>
              </a:rPr>
              <a:t>03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64224" y="2002536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41D"/>
                </a:solidFill>
              </a:rPr>
              <a:t>Webhook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64224" y="2295144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8756C"/>
                </a:solidFill>
              </a:rPr>
              <a:t>Call data posts back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9025128" y="1691640"/>
            <a:ext cx="1965960" cy="987552"/>
          </a:xfrm>
          <a:prstGeom prst="roundRect">
            <a:avLst>
              <a:gd name="adj" fmla="val 7407"/>
            </a:avLst>
          </a:prstGeom>
          <a:solidFill>
            <a:srgbClr val="105F4C"/>
          </a:solidFill>
          <a:ln w="12700">
            <a:solidFill>
              <a:srgbClr val="105F4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53144" y="1801368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04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9153144" y="2002536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Work order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53144" y="2295144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DDEDE6"/>
                </a:solidFill>
              </a:rPr>
              <a:t>Backend output appears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58368" y="382219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5F4C"/>
                </a:solidFill>
              </a:rPr>
              <a:t>Deployed app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331720" y="3822192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3241D"/>
                </a:solidFill>
              </a:rPr>
              <a:t>https://bolna-one.vercel.app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" y="43159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5F4C"/>
                </a:solidFill>
              </a:rPr>
              <a:t>Webhook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331720" y="4315968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3241D"/>
                </a:solidFill>
              </a:rPr>
              <a:t>https://bolna-one.vercel.app/api/bolna/webhook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" y="480974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5F4C"/>
                </a:solidFill>
              </a:rPr>
              <a:t>Local demo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331720" y="4809744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3241D"/>
                </a:solidFill>
              </a:rPr>
              <a:t>http://localhost:5173?demo=1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8368" y="5559552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03229"/>
                </a:solidFill>
              </a:rPr>
              <a:t>Submission evidence: GitHub repo, deployed link, deck, screen recording, and call/demo recording.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6446520"/>
            <a:ext cx="7132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875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FieldFlow Voice Triage | Bolna FSE Assignment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201400" y="63642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5F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FieldFlow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FieldFlow Voice Triage</dc:title>
  <dc:subject>Bolna Full Stack Assignment</dc:subject>
  <dc:creator>Ayush</dc:creator>
  <cp:lastModifiedBy>Ayush</cp:lastModifiedBy>
  <cp:revision>1</cp:revision>
  <dcterms:created xsi:type="dcterms:W3CDTF">2026-05-14T17:35:45Z</dcterms:created>
  <dcterms:modified xsi:type="dcterms:W3CDTF">2026-05-14T17:35:45Z</dcterms:modified>
</cp:coreProperties>
</file>